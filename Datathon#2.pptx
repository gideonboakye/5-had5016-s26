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Proxima Nova"/>
      <p:regular r:id="rId10"/>
      <p:bold r:id="rId11"/>
      <p:italic r:id="rId12"/>
      <p:boldItalic r:id="rId13"/>
    </p:embeddedFont>
    <p:embeddedFont>
      <p:font typeface="Alfa Slab One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1678C2-7ECD-4625-A025-2FEBAB017621}">
  <a:tblStyle styleId="{5E1678C2-7ECD-4625-A025-2FEBAB0176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bold.fntdata"/><Relationship Id="rId10" Type="http://schemas.openxmlformats.org/officeDocument/2006/relationships/font" Target="fonts/ProximaNova-regular.fntdata"/><Relationship Id="rId13" Type="http://schemas.openxmlformats.org/officeDocument/2006/relationships/font" Target="fonts/ProximaNova-boldItalic.fntdata"/><Relationship Id="rId12" Type="http://schemas.openxmlformats.org/officeDocument/2006/relationships/font" Target="fonts/ProximaNov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font" Target="fonts/AlfaSlabOn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bc0462bf1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bc0462bf1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2c654f6d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2c654f6d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2c654f6d1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2c654f6d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232825" y="122775"/>
            <a:ext cx="8628600" cy="6849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462100" y="2859404"/>
            <a:ext cx="5259900" cy="29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No missing values or outliers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Exclusion of age over 65 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Exclusion of clinical features (BMI, glucose, hypertension, and heart disease)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Transform stroke as binary outcome 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Use one hot coding of remaining categorical variables (smoking status, employment, 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>
            <p:ph type="title"/>
          </p:nvPr>
        </p:nvSpPr>
        <p:spPr>
          <a:xfrm>
            <a:off x="252000" y="95672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252000" y="1473454"/>
            <a:ext cx="7816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Stroke is the second leading cause of death for non-communicable diseases worldwide and is known to be affected by age, gender, and employment stress. We wanted to examine what lifestyle factors best predict the probability of stroke.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279000" y="3170754"/>
            <a:ext cx="3597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Using employment status, gender and age, can we predict stroke with a logistic regression model? Would this be better predicted with a more full set of lifestyle features?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 txBox="1"/>
          <p:nvPr>
            <p:ph type="title"/>
          </p:nvPr>
        </p:nvSpPr>
        <p:spPr>
          <a:xfrm>
            <a:off x="252000" y="2516504"/>
            <a:ext cx="365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</a:t>
            </a:r>
            <a:endParaRPr/>
          </a:p>
        </p:txBody>
      </p:sp>
      <p:sp>
        <p:nvSpPr>
          <p:cNvPr id="62" name="Google Shape;62;p13"/>
          <p:cNvSpPr txBox="1"/>
          <p:nvPr>
            <p:ph type="title"/>
          </p:nvPr>
        </p:nvSpPr>
        <p:spPr>
          <a:xfrm>
            <a:off x="4547581" y="2516504"/>
            <a:ext cx="44100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Data Engineering </a:t>
            </a:r>
            <a:endParaRPr sz="2700"/>
          </a:p>
        </p:txBody>
      </p:sp>
      <p:sp>
        <p:nvSpPr>
          <p:cNvPr id="63" name="Google Shape;63;p13"/>
          <p:cNvSpPr txBox="1"/>
          <p:nvPr>
            <p:ph type="title"/>
          </p:nvPr>
        </p:nvSpPr>
        <p:spPr>
          <a:xfrm>
            <a:off x="340900" y="14392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00">
                <a:solidFill>
                  <a:schemeClr val="lt1"/>
                </a:solidFill>
              </a:rPr>
              <a:t>Lifestyle Factors and Stroke Prediction</a:t>
            </a:r>
            <a:endParaRPr sz="3100">
              <a:solidFill>
                <a:schemeClr val="lt1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291700" y="4650250"/>
            <a:ext cx="365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Group  5: Neelan Sriranjan, Owusu Boakye Gideon, Vy Manohara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HAD5016H</a:t>
            </a:r>
            <a:endParaRPr sz="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201775" y="155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Analysis/Model evaluation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11650" y="801250"/>
            <a:ext cx="3090600" cy="42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20">
                <a:latin typeface="Arial"/>
                <a:ea typeface="Arial"/>
                <a:cs typeface="Arial"/>
                <a:sym typeface="Arial"/>
              </a:rPr>
              <a:t>Logistic Regression Model (Model 2)</a:t>
            </a:r>
            <a:endParaRPr b="1" sz="2120">
              <a:latin typeface="Arial"/>
              <a:ea typeface="Arial"/>
              <a:cs typeface="Arial"/>
              <a:sym typeface="Arial"/>
            </a:endParaRPr>
          </a:p>
          <a:p>
            <a:pPr indent="-291465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Features (x): age, gender, employment (Private sector, Public sector, Self-employed, Unemployed)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1465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Outcome (y): stroke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1465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Split data into training (80%) and testing (20%)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1465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Utilize L2 to prevent overfitting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1465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Evaluate balanced model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1465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Accuracy = 63%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20">
                <a:latin typeface="Arial"/>
                <a:ea typeface="Arial"/>
                <a:cs typeface="Arial"/>
                <a:sym typeface="Arial"/>
              </a:rPr>
              <a:t>Logistic Regression Model (Model 1)</a:t>
            </a:r>
            <a:endParaRPr b="1" sz="2120">
              <a:latin typeface="Arial"/>
              <a:ea typeface="Arial"/>
              <a:cs typeface="Arial"/>
              <a:sym typeface="Arial"/>
            </a:endParaRPr>
          </a:p>
          <a:p>
            <a:pPr indent="-291465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Same analysis as above with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additional features: marital status,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resident type, and smoking status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1465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Accuracy = 63%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0001" y="307103"/>
            <a:ext cx="2790725" cy="2267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2" name="Google Shape;72;p14"/>
          <p:cNvGraphicFramePr/>
          <p:nvPr/>
        </p:nvGraphicFramePr>
        <p:xfrm>
          <a:off x="3205225" y="1181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{5E1678C2-7ECD-4625-A025-2FEBAB017621}</a:tableStyleId>
              </a:tblPr>
              <a:tblGrid>
                <a:gridCol w="415200"/>
                <a:gridCol w="747425"/>
                <a:gridCol w="538350"/>
                <a:gridCol w="722450"/>
                <a:gridCol w="623600"/>
              </a:tblGrid>
              <a:tr h="13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Precision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Recall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F1-score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support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3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640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3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18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73" name="Google Shape;7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0000" y="2802246"/>
            <a:ext cx="2790725" cy="2267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4" name="Google Shape;74;p14"/>
          <p:cNvGraphicFramePr/>
          <p:nvPr/>
        </p:nvGraphicFramePr>
        <p:xfrm>
          <a:off x="3205250" y="3455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{5E1678C2-7ECD-4625-A025-2FEBAB017621}</a:tableStyleId>
              </a:tblPr>
              <a:tblGrid>
                <a:gridCol w="415175"/>
                <a:gridCol w="747425"/>
                <a:gridCol w="620100"/>
                <a:gridCol w="694550"/>
                <a:gridCol w="613375"/>
              </a:tblGrid>
              <a:tr h="13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Precision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Recall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F1-score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support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3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640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3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18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75200" y="127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700225"/>
            <a:ext cx="8747700" cy="58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7984" lvl="0" marL="457200" rtl="0" algn="l">
              <a:spcBef>
                <a:spcPts val="0"/>
              </a:spcBef>
              <a:spcAft>
                <a:spcPts val="0"/>
              </a:spcAft>
              <a:buSzPts val="2038"/>
              <a:buFont typeface="Arial"/>
              <a:buChar char="●"/>
            </a:pPr>
            <a:r>
              <a:rPr lang="en" sz="2037">
                <a:latin typeface="Arial"/>
                <a:ea typeface="Arial"/>
                <a:cs typeface="Arial"/>
                <a:sym typeface="Arial"/>
              </a:rPr>
              <a:t>Outliers eliminated to account for employment variable -&gt; skewed data</a:t>
            </a:r>
            <a:endParaRPr sz="2037">
              <a:latin typeface="Arial"/>
              <a:ea typeface="Arial"/>
              <a:cs typeface="Arial"/>
              <a:sym typeface="Arial"/>
            </a:endParaRPr>
          </a:p>
          <a:p>
            <a:pPr indent="-357984" lvl="0" marL="457200" rtl="0" algn="l">
              <a:spcBef>
                <a:spcPts val="0"/>
              </a:spcBef>
              <a:spcAft>
                <a:spcPts val="0"/>
              </a:spcAft>
              <a:buSzPts val="2038"/>
              <a:buFont typeface="Arial"/>
              <a:buChar char="●"/>
            </a:pPr>
            <a:r>
              <a:rPr lang="en" sz="2037">
                <a:latin typeface="Arial"/>
                <a:ea typeface="Arial"/>
                <a:cs typeface="Arial"/>
                <a:sym typeface="Arial"/>
              </a:rPr>
              <a:t>Better performance with balanced dataset</a:t>
            </a:r>
            <a:endParaRPr sz="2037">
              <a:latin typeface="Arial"/>
              <a:ea typeface="Arial"/>
              <a:cs typeface="Arial"/>
              <a:sym typeface="Arial"/>
            </a:endParaRPr>
          </a:p>
          <a:p>
            <a:pPr indent="-357984" lvl="0" marL="457200" rtl="0" algn="l">
              <a:spcBef>
                <a:spcPts val="0"/>
              </a:spcBef>
              <a:spcAft>
                <a:spcPts val="0"/>
              </a:spcAft>
              <a:buSzPts val="2038"/>
              <a:buFont typeface="Arial"/>
              <a:buChar char="●"/>
            </a:pPr>
            <a:r>
              <a:rPr lang="en" sz="2037">
                <a:latin typeface="Arial"/>
                <a:ea typeface="Arial"/>
                <a:cs typeface="Arial"/>
                <a:sym typeface="Arial"/>
              </a:rPr>
              <a:t>Model is poor for predicting stroke but better for predicting non-stroke (due to class imbalance)</a:t>
            </a:r>
            <a:endParaRPr sz="203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37"/>
          </a:p>
          <a:p>
            <a:pPr indent="-357984" lvl="0" marL="457200" rtl="0" algn="l">
              <a:spcBef>
                <a:spcPts val="1200"/>
              </a:spcBef>
              <a:spcAft>
                <a:spcPts val="0"/>
              </a:spcAft>
              <a:buSzPts val="2038"/>
              <a:buFont typeface="Arial"/>
              <a:buChar char="●"/>
            </a:pPr>
            <a:r>
              <a:rPr lang="en" sz="2037">
                <a:latin typeface="Arial"/>
                <a:ea typeface="Arial"/>
                <a:cs typeface="Arial"/>
                <a:sym typeface="Arial"/>
              </a:rPr>
              <a:t>No difference in performance between full model and restricted model with subset of lifestyle features</a:t>
            </a:r>
            <a:endParaRPr sz="2037">
              <a:latin typeface="Arial"/>
              <a:ea typeface="Arial"/>
              <a:cs typeface="Arial"/>
              <a:sym typeface="Arial"/>
            </a:endParaRPr>
          </a:p>
          <a:p>
            <a:pPr indent="-357984" lvl="0" marL="457200" rtl="0" algn="l">
              <a:spcBef>
                <a:spcPts val="0"/>
              </a:spcBef>
              <a:spcAft>
                <a:spcPts val="0"/>
              </a:spcAft>
              <a:buSzPts val="2038"/>
              <a:buFont typeface="Arial"/>
              <a:buChar char="●"/>
            </a:pPr>
            <a:r>
              <a:rPr lang="en" sz="2037">
                <a:latin typeface="Arial"/>
                <a:ea typeface="Arial"/>
                <a:cs typeface="Arial"/>
                <a:sym typeface="Arial"/>
              </a:rPr>
              <a:t>Consider undersampling non-stroke cases or oversampling stroke cases for better precision in detecting stroke patients</a:t>
            </a:r>
            <a:endParaRPr sz="2037">
              <a:latin typeface="Arial"/>
              <a:ea typeface="Arial"/>
              <a:cs typeface="Arial"/>
              <a:sym typeface="Arial"/>
            </a:endParaRPr>
          </a:p>
          <a:p>
            <a:pPr indent="-357984" lvl="0" marL="457200" rtl="0" algn="l">
              <a:spcBef>
                <a:spcPts val="0"/>
              </a:spcBef>
              <a:spcAft>
                <a:spcPts val="0"/>
              </a:spcAft>
              <a:buSzPts val="2038"/>
              <a:buFont typeface="Arial"/>
              <a:buChar char="●"/>
            </a:pPr>
            <a:r>
              <a:rPr lang="en" sz="2037">
                <a:latin typeface="Arial"/>
                <a:ea typeface="Arial"/>
                <a:cs typeface="Arial"/>
                <a:sym typeface="Arial"/>
              </a:rPr>
              <a:t>Incorporate both lifestyle and clinical factors when predicting stroke</a:t>
            </a:r>
            <a:endParaRPr sz="2037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>
            <p:ph type="title"/>
          </p:nvPr>
        </p:nvSpPr>
        <p:spPr>
          <a:xfrm>
            <a:off x="413746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Conclusion/Future Directions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