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</p:sldIdLst>
  <p:sldSz cy="5143500" cx="9144000"/>
  <p:notesSz cx="6858000" cy="9144000"/>
  <p:embeddedFontLst>
    <p:embeddedFont>
      <p:font typeface="Proxima Nova"/>
      <p:regular r:id="rId11"/>
      <p:bold r:id="rId12"/>
      <p:italic r:id="rId13"/>
      <p:boldItalic r:id="rId14"/>
    </p:embeddedFont>
    <p:embeddedFont>
      <p:font typeface="Alfa Slab One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394A16-836D-42A3-9695-E6E27A341514}">
  <a:tblStyle styleId="{BC394A16-836D-42A3-9695-E6E27A34151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ProximaNova-regular.fntdata"/><Relationship Id="rId10" Type="http://schemas.openxmlformats.org/officeDocument/2006/relationships/slide" Target="slides/slide4.xml"/><Relationship Id="rId13" Type="http://schemas.openxmlformats.org/officeDocument/2006/relationships/font" Target="fonts/ProximaNova-italic.fntdata"/><Relationship Id="rId12" Type="http://schemas.openxmlformats.org/officeDocument/2006/relationships/font" Target="fonts/ProximaNova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AlfaSlabOne-regular.fntdata"/><Relationship Id="rId14" Type="http://schemas.openxmlformats.org/officeDocument/2006/relationships/font" Target="fonts/ProximaNova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bfab073db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bfab073d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0462bf19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0462bf1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2c654f6d1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2c654f6d1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92c654f6d1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92c654f6d1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4278300" y="2751163"/>
            <a:ext cx="5874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959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480550"/>
            <a:ext cx="8114400" cy="2445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800"/>
              <a:buNone/>
              <a:defRPr sz="6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6318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490875"/>
            <a:ext cx="2808000" cy="30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83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375599"/>
            <a:ext cx="4045200" cy="1551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981125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lfa Slab One"/>
              <a:buNone/>
              <a:defRPr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67925"/>
            <a:ext cx="8520600" cy="198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0"/>
              <a:buNone/>
              <a:defRPr sz="11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2242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ame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Alfa Slab One"/>
              <a:buNone/>
              <a:defRPr sz="3000">
                <a:solidFill>
                  <a:schemeClr val="accent3"/>
                </a:solidFill>
                <a:latin typeface="Alfa Slab One"/>
                <a:ea typeface="Alfa Slab One"/>
                <a:cs typeface="Alfa Slab One"/>
                <a:sym typeface="Alfa Slab On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roxima Nova"/>
              <a:buChar char="●"/>
              <a:defRPr sz="18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○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■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●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○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■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●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○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roxima Nova"/>
              <a:buChar char="■"/>
              <a:defRPr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3F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700" y="595975"/>
            <a:ext cx="8520600" cy="195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Lifestyle Factors and Stroke</a:t>
            </a:r>
            <a:endParaRPr/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165823"/>
            <a:ext cx="8520600" cy="73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Group  5: Neelan Sriranjan, Owusu Boakye Gideon, Vy Manohara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HAD5016H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January 29th, 2026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3F3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/>
        </p:nvSpPr>
        <p:spPr>
          <a:xfrm>
            <a:off x="4462100" y="2186304"/>
            <a:ext cx="5259900" cy="29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</a:pPr>
            <a:r>
              <a:rPr lang="en" sz="1600">
                <a:solidFill>
                  <a:schemeClr val="dk2"/>
                </a:solidFill>
              </a:rPr>
              <a:t>No missing values or outliers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</a:pPr>
            <a:r>
              <a:rPr lang="en" sz="1600">
                <a:solidFill>
                  <a:schemeClr val="dk2"/>
                </a:solidFill>
              </a:rPr>
              <a:t>Exclusion of age over 65 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</a:pPr>
            <a:r>
              <a:rPr lang="en" sz="1600">
                <a:solidFill>
                  <a:schemeClr val="dk2"/>
                </a:solidFill>
              </a:rPr>
              <a:t>Exclusion of clinical features (BMI, glucose, hypertension, and heart disease)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</a:pPr>
            <a:r>
              <a:rPr lang="en" sz="1600">
                <a:solidFill>
                  <a:schemeClr val="dk2"/>
                </a:solidFill>
              </a:rPr>
              <a:t>Transform stroke as binary outcome 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</a:pPr>
            <a:r>
              <a:rPr lang="en" sz="1600">
                <a:solidFill>
                  <a:schemeClr val="dk2"/>
                </a:solidFill>
              </a:rPr>
              <a:t>Use one hot coding of remaining categorical variables (smoking status, employment, 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252000" y="143922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252000" y="660654"/>
            <a:ext cx="78165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Stroke is the second leading cause of death for non-communicable diseases worldwide and is known to be affected by age, gender, and employment stress. We wanted to examine what lifestyle factors best predict stroke.</a:t>
            </a:r>
            <a:endParaRPr/>
          </a:p>
        </p:txBody>
      </p:sp>
      <p:sp>
        <p:nvSpPr>
          <p:cNvPr id="65" name="Google Shape;65;p14"/>
          <p:cNvSpPr txBox="1"/>
          <p:nvPr/>
        </p:nvSpPr>
        <p:spPr>
          <a:xfrm>
            <a:off x="279000" y="2497654"/>
            <a:ext cx="35979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Using employment status, gender and age, can we predict stroke with a logistic regression model? Would this be better predicted with a more full set of lifestyle features?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>
            <p:ph type="title"/>
          </p:nvPr>
        </p:nvSpPr>
        <p:spPr>
          <a:xfrm>
            <a:off x="252000" y="1754504"/>
            <a:ext cx="3651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Question</a:t>
            </a:r>
            <a:endParaRPr/>
          </a:p>
        </p:txBody>
      </p:sp>
      <p:sp>
        <p:nvSpPr>
          <p:cNvPr id="67" name="Google Shape;67;p14"/>
          <p:cNvSpPr txBox="1"/>
          <p:nvPr>
            <p:ph type="title"/>
          </p:nvPr>
        </p:nvSpPr>
        <p:spPr>
          <a:xfrm>
            <a:off x="4547581" y="1754504"/>
            <a:ext cx="44100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Data Engineering </a:t>
            </a:r>
            <a:endParaRPr sz="2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3F3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>
            <p:ph type="title"/>
          </p:nvPr>
        </p:nvSpPr>
        <p:spPr>
          <a:xfrm>
            <a:off x="201775" y="155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Analysis/Model evaluation</a:t>
            </a:r>
            <a:endParaRPr/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311650" y="801250"/>
            <a:ext cx="3090600" cy="428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20">
                <a:latin typeface="Arial"/>
                <a:ea typeface="Arial"/>
                <a:cs typeface="Arial"/>
                <a:sym typeface="Arial"/>
              </a:rPr>
              <a:t>Logistic Regression Model (Model 2)</a:t>
            </a:r>
            <a:endParaRPr b="1" sz="2120"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Features (x): age, gender, employment (Private sector, Public sector, Self-employed, Unemployed)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Outcome (y): stroke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Split data into training (80%) and testing (20%)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Utilize L2 to prevent overfitting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Evaluate balanced model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Accuracy = 63%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120">
                <a:latin typeface="Arial"/>
                <a:ea typeface="Arial"/>
                <a:cs typeface="Arial"/>
                <a:sym typeface="Arial"/>
              </a:rPr>
              <a:t>Logistic Regression Model (Model 1)</a:t>
            </a:r>
            <a:endParaRPr b="1" sz="2120"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Same analysis as above with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additional features: marital status,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resident type, and smoking status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Accuracy = 63%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50001" y="307103"/>
            <a:ext cx="2790725" cy="22677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5" name="Google Shape;75;p15"/>
          <p:cNvGraphicFramePr/>
          <p:nvPr/>
        </p:nvGraphicFramePr>
        <p:xfrm>
          <a:off x="3205225" y="11813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{BC394A16-836D-42A3-9695-E6E27A341514}</a:tableStyleId>
              </a:tblPr>
              <a:tblGrid>
                <a:gridCol w="415200"/>
                <a:gridCol w="747425"/>
                <a:gridCol w="538350"/>
                <a:gridCol w="722450"/>
                <a:gridCol w="623600"/>
              </a:tblGrid>
              <a:tr h="133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Precision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Recall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F1-score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support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133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0.99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0.62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0.77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640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133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0.06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0.78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0.10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18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76" name="Google Shape;76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50000" y="2802246"/>
            <a:ext cx="2790725" cy="22677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7" name="Google Shape;77;p15"/>
          <p:cNvGraphicFramePr/>
          <p:nvPr/>
        </p:nvGraphicFramePr>
        <p:xfrm>
          <a:off x="3205250" y="34556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{BC394A16-836D-42A3-9695-E6E27A341514}</a:tableStyleId>
              </a:tblPr>
              <a:tblGrid>
                <a:gridCol w="415175"/>
                <a:gridCol w="747425"/>
                <a:gridCol w="620100"/>
                <a:gridCol w="694550"/>
                <a:gridCol w="613375"/>
              </a:tblGrid>
              <a:tr h="133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Precision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Recall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F1-score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support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133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0.99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0.62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0.77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640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133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0.05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0.72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0.10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18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3F3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27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700225"/>
            <a:ext cx="8520600" cy="581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7984" lvl="0" marL="457200" rtl="0" algn="l">
              <a:spcBef>
                <a:spcPts val="0"/>
              </a:spcBef>
              <a:spcAft>
                <a:spcPts val="0"/>
              </a:spcAft>
              <a:buSzPts val="2038"/>
              <a:buFont typeface="Arial"/>
              <a:buChar char="●"/>
            </a:pPr>
            <a:r>
              <a:rPr lang="en" sz="2037">
                <a:latin typeface="Arial"/>
                <a:ea typeface="Arial"/>
                <a:cs typeface="Arial"/>
                <a:sym typeface="Arial"/>
              </a:rPr>
              <a:t>Outliers eliminated to account for employment variable, skewed data</a:t>
            </a:r>
            <a:endParaRPr sz="2037">
              <a:latin typeface="Arial"/>
              <a:ea typeface="Arial"/>
              <a:cs typeface="Arial"/>
              <a:sym typeface="Arial"/>
            </a:endParaRPr>
          </a:p>
          <a:p>
            <a:pPr indent="-357984" lvl="0" marL="457200" rtl="0" algn="l">
              <a:spcBef>
                <a:spcPts val="0"/>
              </a:spcBef>
              <a:spcAft>
                <a:spcPts val="0"/>
              </a:spcAft>
              <a:buSzPts val="2038"/>
              <a:buFont typeface="Arial"/>
              <a:buChar char="●"/>
            </a:pPr>
            <a:r>
              <a:rPr lang="en" sz="2037">
                <a:latin typeface="Arial"/>
                <a:ea typeface="Arial"/>
                <a:cs typeface="Arial"/>
                <a:sym typeface="Arial"/>
              </a:rPr>
              <a:t>Better performance with balanced dataset</a:t>
            </a:r>
            <a:endParaRPr sz="2037">
              <a:latin typeface="Arial"/>
              <a:ea typeface="Arial"/>
              <a:cs typeface="Arial"/>
              <a:sym typeface="Arial"/>
            </a:endParaRPr>
          </a:p>
          <a:p>
            <a:pPr indent="-357984" lvl="0" marL="457200" rtl="0" algn="l">
              <a:spcBef>
                <a:spcPts val="0"/>
              </a:spcBef>
              <a:spcAft>
                <a:spcPts val="0"/>
              </a:spcAft>
              <a:buSzPts val="2038"/>
              <a:buFont typeface="Arial"/>
              <a:buChar char="●"/>
            </a:pPr>
            <a:r>
              <a:rPr lang="en" sz="2037">
                <a:latin typeface="Arial"/>
                <a:ea typeface="Arial"/>
                <a:cs typeface="Arial"/>
                <a:sym typeface="Arial"/>
              </a:rPr>
              <a:t>Model is poor for predicting stroke but better for predicting non-stroke (due to class imbalance)</a:t>
            </a:r>
            <a:endParaRPr sz="203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37"/>
          </a:p>
          <a:p>
            <a:pPr indent="-357984" lvl="0" marL="457200" rtl="0" algn="l">
              <a:spcBef>
                <a:spcPts val="1200"/>
              </a:spcBef>
              <a:spcAft>
                <a:spcPts val="0"/>
              </a:spcAft>
              <a:buSzPts val="2038"/>
              <a:buFont typeface="Arial"/>
              <a:buChar char="●"/>
            </a:pPr>
            <a:r>
              <a:rPr lang="en" sz="2037">
                <a:latin typeface="Arial"/>
                <a:ea typeface="Arial"/>
                <a:cs typeface="Arial"/>
                <a:sym typeface="Arial"/>
              </a:rPr>
              <a:t>No difference in performance between full model and restricted model with subset of lifestyle features</a:t>
            </a:r>
            <a:endParaRPr sz="2037">
              <a:latin typeface="Arial"/>
              <a:ea typeface="Arial"/>
              <a:cs typeface="Arial"/>
              <a:sym typeface="Arial"/>
            </a:endParaRPr>
          </a:p>
          <a:p>
            <a:pPr indent="-357984" lvl="0" marL="457200" rtl="0" algn="l">
              <a:spcBef>
                <a:spcPts val="0"/>
              </a:spcBef>
              <a:spcAft>
                <a:spcPts val="0"/>
              </a:spcAft>
              <a:buSzPts val="2038"/>
              <a:buFont typeface="Arial"/>
              <a:buChar char="●"/>
            </a:pPr>
            <a:r>
              <a:rPr lang="en" sz="2037">
                <a:latin typeface="Arial"/>
                <a:ea typeface="Arial"/>
                <a:cs typeface="Arial"/>
                <a:sym typeface="Arial"/>
              </a:rPr>
              <a:t>Consider undersampling non-stroke cases or oversampling stroke cases for better precision in detecting stroke patients</a:t>
            </a:r>
            <a:endParaRPr sz="2037">
              <a:latin typeface="Arial"/>
              <a:ea typeface="Arial"/>
              <a:cs typeface="Arial"/>
              <a:sym typeface="Arial"/>
            </a:endParaRPr>
          </a:p>
          <a:p>
            <a:pPr indent="-357984" lvl="0" marL="457200" rtl="0" algn="l">
              <a:spcBef>
                <a:spcPts val="0"/>
              </a:spcBef>
              <a:spcAft>
                <a:spcPts val="0"/>
              </a:spcAft>
              <a:buSzPts val="2038"/>
              <a:buFont typeface="Arial"/>
              <a:buChar char="●"/>
            </a:pPr>
            <a:r>
              <a:rPr lang="en" sz="2037">
                <a:latin typeface="Arial"/>
                <a:ea typeface="Arial"/>
                <a:cs typeface="Arial"/>
                <a:sym typeface="Arial"/>
              </a:rPr>
              <a:t>Incorporate both lifestyle and clinical factors when predicting stroke</a:t>
            </a:r>
            <a:endParaRPr sz="2037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type="title"/>
          </p:nvPr>
        </p:nvSpPr>
        <p:spPr>
          <a:xfrm>
            <a:off x="413746" y="22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Conclusion/Future Directions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ameday">
  <a:themeElements>
    <a:clrScheme name="Gameday">
      <a:dk1>
        <a:srgbClr val="4285F4"/>
      </a:dk1>
      <a:lt1>
        <a:srgbClr val="FFFFFF"/>
      </a:lt1>
      <a:dk2>
        <a:srgbClr val="666666"/>
      </a:dk2>
      <a:lt2>
        <a:srgbClr val="D9D9D9"/>
      </a:lt2>
      <a:accent1>
        <a:srgbClr val="455A64"/>
      </a:accent1>
      <a:accent2>
        <a:srgbClr val="607D8B"/>
      </a:accent2>
      <a:accent3>
        <a:srgbClr val="FF5722"/>
      </a:accent3>
      <a:accent4>
        <a:srgbClr val="D84315"/>
      </a:accent4>
      <a:accent5>
        <a:srgbClr val="1C3AA9"/>
      </a:accent5>
      <a:accent6>
        <a:srgbClr val="FFAB40"/>
      </a:accent6>
      <a:hlink>
        <a:srgbClr val="1C3AA9"/>
      </a:hlink>
      <a:folHlink>
        <a:srgbClr val="1C3A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